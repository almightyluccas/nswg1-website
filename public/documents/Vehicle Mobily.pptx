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19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9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35283ce79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35283ce79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65827da51_2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65827da51_2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35283ce79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35283ce79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35283ce79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35283ce79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35283ce79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35283ce79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35283ce79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35283ce79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35283ce79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35283ce79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35283ce79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35283ce7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35283ce7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35283ce7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35283ce79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35283ce79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35283ce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35283ce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35283ce7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a35283ce7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35283ce7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35283ce7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35283ce7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35283ce7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cxnSp>
        <p:nvCxnSpPr>
          <p:cNvPr id="54" name="Google Shape;54;p13"/>
          <p:cNvCxnSpPr/>
          <p:nvPr/>
        </p:nvCxnSpPr>
        <p:spPr>
          <a:xfrm>
            <a:off x="0" y="457200"/>
            <a:ext cx="9144900" cy="8700"/>
          </a:xfrm>
          <a:prstGeom prst="straightConnector1">
            <a:avLst/>
          </a:prstGeom>
          <a:noFill/>
          <a:ln cap="flat" cmpd="sng" w="38100">
            <a:solidFill>
              <a:srgbClr val="1C2B66"/>
            </a:solidFill>
            <a:prstDash val="solid"/>
            <a:round/>
            <a:headEnd len="med" w="med" type="none"/>
            <a:tailEnd len="med" w="med" type="none"/>
          </a:ln>
        </p:spPr>
      </p:cxnSp>
      <p:sp>
        <p:nvSpPr>
          <p:cNvPr id="55" name="Google Shape;55;p13"/>
          <p:cNvSpPr txBox="1"/>
          <p:nvPr/>
        </p:nvSpPr>
        <p:spPr>
          <a:xfrm>
            <a:off x="84900" y="-101850"/>
            <a:ext cx="89742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rgbClr val="1C2B66"/>
                </a:solidFill>
                <a:latin typeface="Times New Roman"/>
                <a:ea typeface="Times New Roman"/>
                <a:cs typeface="Times New Roman"/>
                <a:sym typeface="Times New Roman"/>
              </a:rPr>
              <a:t>NSWC</a:t>
            </a:r>
            <a:endParaRPr b="1" sz="2600">
              <a:solidFill>
                <a:srgbClr val="1C2B66"/>
              </a:solidFill>
              <a:latin typeface="Times New Roman"/>
              <a:ea typeface="Times New Roman"/>
              <a:cs typeface="Times New Roman"/>
              <a:sym typeface="Times New Roman"/>
            </a:endParaRPr>
          </a:p>
        </p:txBody>
      </p:sp>
      <p:sp>
        <p:nvSpPr>
          <p:cNvPr id="56" name="Google Shape;56;p13"/>
          <p:cNvSpPr txBox="1"/>
          <p:nvPr/>
        </p:nvSpPr>
        <p:spPr>
          <a:xfrm>
            <a:off x="3437750" y="1034688"/>
            <a:ext cx="5909400" cy="27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t>(MOB-C / Mobility Training Course)</a:t>
            </a:r>
            <a:endParaRPr sz="1700">
              <a:solidFill>
                <a:srgbClr val="000000"/>
              </a:solidFill>
            </a:endParaRPr>
          </a:p>
        </p:txBody>
      </p:sp>
      <p:sp>
        <p:nvSpPr>
          <p:cNvPr id="57" name="Google Shape;57;p13"/>
          <p:cNvSpPr txBox="1"/>
          <p:nvPr/>
        </p:nvSpPr>
        <p:spPr>
          <a:xfrm>
            <a:off x="5106975" y="1842600"/>
            <a:ext cx="325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595959"/>
                </a:solidFill>
              </a:rPr>
              <a:t>VM</a:t>
            </a:r>
            <a:r>
              <a:rPr lang="en" sz="1800">
                <a:solidFill>
                  <a:srgbClr val="595959"/>
                </a:solidFill>
              </a:rPr>
              <a:t> Class 001</a:t>
            </a:r>
            <a:endParaRPr sz="1800">
              <a:solidFill>
                <a:srgbClr val="595959"/>
              </a:solidFill>
            </a:endParaRPr>
          </a:p>
        </p:txBody>
      </p:sp>
      <p:sp>
        <p:nvSpPr>
          <p:cNvPr id="58" name="Google Shape;58;p13"/>
          <p:cNvSpPr txBox="1"/>
          <p:nvPr/>
        </p:nvSpPr>
        <p:spPr>
          <a:xfrm>
            <a:off x="1805000" y="4323425"/>
            <a:ext cx="6348900" cy="8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595959"/>
                </a:solidFill>
              </a:rPr>
              <a:t>The overall classification for this document is:  </a:t>
            </a:r>
            <a:r>
              <a:rPr lang="en" sz="1800" u="sng">
                <a:solidFill>
                  <a:srgbClr val="38761D"/>
                </a:solidFill>
              </a:rPr>
              <a:t>UNCLASSIFIED - FOR OFFICIAL USE ONLY</a:t>
            </a:r>
            <a:endParaRPr sz="1800" u="sng">
              <a:solidFill>
                <a:srgbClr val="38761D"/>
              </a:solidFill>
            </a:endParaRPr>
          </a:p>
        </p:txBody>
      </p:sp>
      <p:sp>
        <p:nvSpPr>
          <p:cNvPr id="59" name="Google Shape;59;p13"/>
          <p:cNvSpPr txBox="1"/>
          <p:nvPr/>
        </p:nvSpPr>
        <p:spPr>
          <a:xfrm>
            <a:off x="5189325" y="2136875"/>
            <a:ext cx="3094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595959"/>
                </a:solidFill>
              </a:rPr>
              <a:t>CO: LTCDR J. Rola</a:t>
            </a:r>
            <a:endParaRPr sz="1800">
              <a:solidFill>
                <a:srgbClr val="595959"/>
              </a:solidFill>
            </a:endParaRPr>
          </a:p>
        </p:txBody>
      </p:sp>
      <p:sp>
        <p:nvSpPr>
          <p:cNvPr id="60" name="Google Shape;60;p13"/>
          <p:cNvSpPr txBox="1"/>
          <p:nvPr/>
        </p:nvSpPr>
        <p:spPr>
          <a:xfrm>
            <a:off x="5483550" y="3036013"/>
            <a:ext cx="2337000" cy="72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E06666"/>
                </a:solidFill>
              </a:rPr>
              <a:t>031300MAR2025</a:t>
            </a:r>
            <a:br>
              <a:rPr lang="en" sz="1800">
                <a:solidFill>
                  <a:srgbClr val="E06666"/>
                </a:solidFill>
              </a:rPr>
            </a:br>
            <a:r>
              <a:rPr lang="en" sz="1800">
                <a:solidFill>
                  <a:srgbClr val="E06666"/>
                </a:solidFill>
              </a:rPr>
              <a:t>(LOCAL)</a:t>
            </a:r>
            <a:endParaRPr sz="1800">
              <a:solidFill>
                <a:srgbClr val="E06666"/>
              </a:solidFill>
            </a:endParaRPr>
          </a:p>
        </p:txBody>
      </p:sp>
      <p:pic>
        <p:nvPicPr>
          <p:cNvPr id="61" name="Google Shape;61;p13" title="OIP.jpg"/>
          <p:cNvPicPr preferRelativeResize="0"/>
          <p:nvPr/>
        </p:nvPicPr>
        <p:blipFill rotWithShape="1">
          <a:blip r:embed="rId3">
            <a:alphaModFix/>
          </a:blip>
          <a:srcRect b="0" l="0" r="0" t="0"/>
          <a:stretch/>
        </p:blipFill>
        <p:spPr>
          <a:xfrm>
            <a:off x="237525" y="712100"/>
            <a:ext cx="3611325" cy="3611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nvSpPr>
        <p:spPr>
          <a:xfrm>
            <a:off x="104400" y="561000"/>
            <a:ext cx="6763500" cy="228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Vehicle mobility refers to the employment of ground vehicles to support and execute a wide range of operational tasks. This includes, but is not limited to, </a:t>
            </a:r>
            <a:r>
              <a:rPr b="1" lang="en">
                <a:solidFill>
                  <a:schemeClr val="dk1"/>
                </a:solidFill>
                <a:latin typeface="Times New Roman"/>
                <a:ea typeface="Times New Roman"/>
                <a:cs typeface="Times New Roman"/>
                <a:sym typeface="Times New Roman"/>
              </a:rPr>
              <a:t>infiltration and exfiltration of personnel</a:t>
            </a:r>
            <a:r>
              <a:rPr lang="en">
                <a:solidFill>
                  <a:schemeClr val="dk1"/>
                </a:solidFill>
                <a:latin typeface="Times New Roman"/>
                <a:ea typeface="Times New Roman"/>
                <a:cs typeface="Times New Roman"/>
                <a:sym typeface="Times New Roman"/>
              </a:rPr>
              <a:t>, positioning for follow on actions. Vehicle mobility enables rapid, controlled, and coordinated movement across the battlespace while maintaining security, situational awareness, and operational tempo.</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br>
              <a:rPr lang="en">
                <a:solidFill>
                  <a:schemeClr val="dk1"/>
                </a:solidFill>
                <a:latin typeface="Times New Roman"/>
                <a:ea typeface="Times New Roman"/>
                <a:cs typeface="Times New Roman"/>
                <a:sym typeface="Times New Roman"/>
              </a:rPr>
            </a:b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p:txBody>
      </p:sp>
      <p:cxnSp>
        <p:nvCxnSpPr>
          <p:cNvPr id="67" name="Google Shape;67;p14"/>
          <p:cNvCxnSpPr/>
          <p:nvPr/>
        </p:nvCxnSpPr>
        <p:spPr>
          <a:xfrm>
            <a:off x="0" y="457200"/>
            <a:ext cx="9308100" cy="11400"/>
          </a:xfrm>
          <a:prstGeom prst="straightConnector1">
            <a:avLst/>
          </a:prstGeom>
          <a:noFill/>
          <a:ln cap="flat" cmpd="sng" w="38100">
            <a:solidFill>
              <a:srgbClr val="1C2B66"/>
            </a:solidFill>
            <a:prstDash val="solid"/>
            <a:round/>
            <a:headEnd len="med" w="med" type="none"/>
            <a:tailEnd len="med" w="med" type="none"/>
          </a:ln>
        </p:spPr>
      </p:cxnSp>
      <p:sp>
        <p:nvSpPr>
          <p:cNvPr id="68" name="Google Shape;68;p14"/>
          <p:cNvSpPr txBox="1"/>
          <p:nvPr/>
        </p:nvSpPr>
        <p:spPr>
          <a:xfrm>
            <a:off x="84900" y="-101850"/>
            <a:ext cx="8974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1C2B66"/>
                </a:solidFill>
                <a:latin typeface="Times New Roman"/>
                <a:ea typeface="Times New Roman"/>
                <a:cs typeface="Times New Roman"/>
                <a:sym typeface="Times New Roman"/>
              </a:rPr>
              <a:t>Purpose &amp; Scope</a:t>
            </a:r>
            <a:endParaRPr b="1" sz="2600">
              <a:solidFill>
                <a:srgbClr val="1C2B66"/>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nvSpPr>
        <p:spPr>
          <a:xfrm>
            <a:off x="245025" y="576575"/>
            <a:ext cx="8236200" cy="394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Times New Roman"/>
                <a:ea typeface="Times New Roman"/>
                <a:cs typeface="Times New Roman"/>
                <a:sym typeface="Times New Roman"/>
              </a:rPr>
              <a:t>Keep in mind that vehicle mobility is highly dynamic one of the most rapidly changing environments we operate in, second only to dynamic CQB. Terrain, threat, and situational factors can shift quickly, and vehicle speeds must adapt accordingly. This document provides the standardized baseline for mobility operations. Regardless of debates or individual preferences, these standards serve as the default framework for planning, executing, and evaluating convoy movement.</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2"/>
              </a:solidFill>
              <a:latin typeface="Times New Roman"/>
              <a:ea typeface="Times New Roman"/>
              <a:cs typeface="Times New Roman"/>
              <a:sym typeface="Times New Roman"/>
            </a:endParaRPr>
          </a:p>
        </p:txBody>
      </p:sp>
      <p:cxnSp>
        <p:nvCxnSpPr>
          <p:cNvPr id="74" name="Google Shape;74;p15"/>
          <p:cNvCxnSpPr/>
          <p:nvPr/>
        </p:nvCxnSpPr>
        <p:spPr>
          <a:xfrm>
            <a:off x="0" y="457200"/>
            <a:ext cx="9308100" cy="11400"/>
          </a:xfrm>
          <a:prstGeom prst="straightConnector1">
            <a:avLst/>
          </a:prstGeom>
          <a:noFill/>
          <a:ln cap="flat" cmpd="sng" w="38100">
            <a:solidFill>
              <a:srgbClr val="1C2B66"/>
            </a:solidFill>
            <a:prstDash val="solid"/>
            <a:round/>
            <a:headEnd len="med" w="med" type="none"/>
            <a:tailEnd len="med" w="med" type="none"/>
          </a:ln>
        </p:spPr>
      </p:cxnSp>
      <p:sp>
        <p:nvSpPr>
          <p:cNvPr id="75" name="Google Shape;75;p15"/>
          <p:cNvSpPr txBox="1"/>
          <p:nvPr/>
        </p:nvSpPr>
        <p:spPr>
          <a:xfrm>
            <a:off x="84900" y="-101850"/>
            <a:ext cx="8974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1C2B66"/>
                </a:solidFill>
                <a:latin typeface="Times New Roman"/>
                <a:ea typeface="Times New Roman"/>
                <a:cs typeface="Times New Roman"/>
                <a:sym typeface="Times New Roman"/>
              </a:rPr>
              <a:t>Purpose &amp; Scope</a:t>
            </a:r>
            <a:endParaRPr b="1" sz="2600">
              <a:solidFill>
                <a:srgbClr val="1C2B66"/>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nvSpPr>
        <p:spPr>
          <a:xfrm>
            <a:off x="320150" y="1197600"/>
            <a:ext cx="8236200" cy="39459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dk1"/>
              </a:buClr>
              <a:buSzPts val="1600"/>
              <a:buAutoNum type="arabicPeriod"/>
            </a:pPr>
            <a:r>
              <a:rPr lang="en" sz="1600">
                <a:solidFill>
                  <a:schemeClr val="dk1"/>
                </a:solidFill>
              </a:rPr>
              <a:t>The ideal </a:t>
            </a:r>
            <a:r>
              <a:rPr lang="en" sz="1600">
                <a:solidFill>
                  <a:schemeClr val="dk1"/>
                </a:solidFill>
              </a:rPr>
              <a:t>movement</a:t>
            </a:r>
            <a:r>
              <a:rPr lang="en" sz="1600">
                <a:solidFill>
                  <a:schemeClr val="dk1"/>
                </a:solidFill>
              </a:rPr>
              <a:t> speed is 45 kph.</a:t>
            </a:r>
            <a:br>
              <a:rPr lang="en"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lang="en" sz="1600">
                <a:solidFill>
                  <a:schemeClr val="dk1"/>
                </a:solidFill>
              </a:rPr>
              <a:t>The </a:t>
            </a:r>
            <a:r>
              <a:rPr lang="en" sz="1600">
                <a:solidFill>
                  <a:schemeClr val="dk1"/>
                </a:solidFill>
              </a:rPr>
              <a:t>default</a:t>
            </a:r>
            <a:r>
              <a:rPr lang="en" sz="1600">
                <a:solidFill>
                  <a:schemeClr val="dk1"/>
                </a:solidFill>
              </a:rPr>
              <a:t> will always be to move </a:t>
            </a:r>
            <a:r>
              <a:rPr lang="en" sz="1600">
                <a:solidFill>
                  <a:schemeClr val="dk1"/>
                </a:solidFill>
              </a:rPr>
              <a:t>threw</a:t>
            </a:r>
            <a:r>
              <a:rPr lang="en" sz="1600">
                <a:solidFill>
                  <a:schemeClr val="dk1"/>
                </a:solidFill>
              </a:rPr>
              <a:t> the event line ie blowing past a ambush</a:t>
            </a:r>
            <a:endParaRPr sz="1600">
              <a:solidFill>
                <a:schemeClr val="dk1"/>
              </a:solidFill>
            </a:endParaRPr>
          </a:p>
          <a:p>
            <a:pPr indent="0" lvl="0" marL="0" rtl="0" algn="l">
              <a:spcBef>
                <a:spcPts val="1200"/>
              </a:spcBef>
              <a:spcAft>
                <a:spcPts val="0"/>
              </a:spcAft>
              <a:buNone/>
            </a:pPr>
            <a:r>
              <a:t/>
            </a:r>
            <a:endParaRPr sz="2300">
              <a:solidFill>
                <a:schemeClr val="dk2"/>
              </a:solidFill>
            </a:endParaRPr>
          </a:p>
        </p:txBody>
      </p:sp>
      <p:cxnSp>
        <p:nvCxnSpPr>
          <p:cNvPr id="81" name="Google Shape;81;p16"/>
          <p:cNvCxnSpPr/>
          <p:nvPr/>
        </p:nvCxnSpPr>
        <p:spPr>
          <a:xfrm>
            <a:off x="0" y="457200"/>
            <a:ext cx="9308100" cy="11400"/>
          </a:xfrm>
          <a:prstGeom prst="straightConnector1">
            <a:avLst/>
          </a:prstGeom>
          <a:noFill/>
          <a:ln cap="flat" cmpd="sng" w="38100">
            <a:solidFill>
              <a:srgbClr val="1C2B66"/>
            </a:solidFill>
            <a:prstDash val="solid"/>
            <a:round/>
            <a:headEnd len="med" w="med" type="none"/>
            <a:tailEnd len="med" w="med" type="none"/>
          </a:ln>
        </p:spPr>
      </p:cxnSp>
      <p:sp>
        <p:nvSpPr>
          <p:cNvPr id="82" name="Google Shape;82;p16"/>
          <p:cNvSpPr txBox="1"/>
          <p:nvPr/>
        </p:nvSpPr>
        <p:spPr>
          <a:xfrm>
            <a:off x="84900" y="-101850"/>
            <a:ext cx="8974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1C2B66"/>
                </a:solidFill>
                <a:latin typeface="Times New Roman"/>
                <a:ea typeface="Times New Roman"/>
                <a:cs typeface="Times New Roman"/>
                <a:sym typeface="Times New Roman"/>
              </a:rPr>
              <a:t>Overview &amp; MISC</a:t>
            </a:r>
            <a:endParaRPr b="1" sz="2600">
              <a:solidFill>
                <a:srgbClr val="1C2B66"/>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nvSpPr>
        <p:spPr>
          <a:xfrm>
            <a:off x="172650" y="1087625"/>
            <a:ext cx="5363400" cy="276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n" sz="1100">
                <a:solidFill>
                  <a:schemeClr val="dk1"/>
                </a:solidFill>
              </a:rPr>
              <a:t>Start &amp; End Points</a:t>
            </a:r>
            <a:br>
              <a:rPr lang="en" sz="1100">
                <a:solidFill>
                  <a:schemeClr val="dk1"/>
                </a:solidFill>
              </a:rPr>
            </a:br>
            <a:r>
              <a:rPr lang="en" sz="1100">
                <a:solidFill>
                  <a:schemeClr val="dk1"/>
                </a:solidFill>
              </a:rPr>
              <a:t> – Clearly marked to designate the beginning and end of the route.</a:t>
            </a:r>
            <a:endParaRPr sz="1100">
              <a:solidFill>
                <a:schemeClr val="dk1"/>
              </a:solidFill>
            </a:endParaRPr>
          </a:p>
          <a:p>
            <a:pPr indent="0" lvl="0" marL="0" rtl="0" algn="l">
              <a:lnSpc>
                <a:spcPct val="115000"/>
              </a:lnSpc>
              <a:spcBef>
                <a:spcPts val="1800"/>
              </a:spcBef>
              <a:spcAft>
                <a:spcPts val="0"/>
              </a:spcAft>
              <a:buNone/>
            </a:pPr>
            <a:r>
              <a:rPr lang="en" sz="1100">
                <a:solidFill>
                  <a:schemeClr val="dk1"/>
                </a:solidFill>
              </a:rPr>
              <a:t>Route Marking</a:t>
            </a:r>
            <a:br>
              <a:rPr lang="en" sz="1100">
                <a:solidFill>
                  <a:schemeClr val="dk1"/>
                </a:solidFill>
              </a:rPr>
            </a:br>
            <a:r>
              <a:rPr lang="en" sz="1100">
                <a:solidFill>
                  <a:schemeClr val="dk1"/>
                </a:solidFill>
              </a:rPr>
              <a:t> – Routes will be shown as a colored line on the map.</a:t>
            </a:r>
            <a:br>
              <a:rPr lang="en" sz="1100">
                <a:solidFill>
                  <a:schemeClr val="dk1"/>
                </a:solidFill>
              </a:rPr>
            </a:br>
            <a:r>
              <a:rPr lang="en" sz="1100">
                <a:solidFill>
                  <a:schemeClr val="dk1"/>
                </a:solidFill>
              </a:rPr>
              <a:t> – Each route is assigned a codename (e.g., </a:t>
            </a:r>
            <a:r>
              <a:rPr i="1" lang="en" sz="1100">
                <a:solidFill>
                  <a:schemeClr val="dk1"/>
                </a:solidFill>
              </a:rPr>
              <a:t>ATLANTIC, FLORIDA,</a:t>
            </a:r>
            <a:r>
              <a:rPr lang="en" sz="1100">
                <a:solidFill>
                  <a:schemeClr val="dk1"/>
                </a:solidFill>
              </a:rPr>
              <a:t> etc.).</a:t>
            </a:r>
            <a:br>
              <a:rPr lang="en" sz="1100">
                <a:solidFill>
                  <a:schemeClr val="dk1"/>
                </a:solidFill>
              </a:rPr>
            </a:br>
            <a:r>
              <a:rPr lang="en" sz="1100">
                <a:solidFill>
                  <a:schemeClr val="dk1"/>
                </a:solidFill>
              </a:rPr>
              <a:t> – Codenames allow quick, clear reference over radio.</a:t>
            </a:r>
            <a:endParaRPr sz="1100">
              <a:solidFill>
                <a:schemeClr val="dk1"/>
              </a:solidFill>
            </a:endParaRPr>
          </a:p>
          <a:p>
            <a:pPr indent="0" lvl="0" marL="0" rtl="0" algn="l">
              <a:lnSpc>
                <a:spcPct val="115000"/>
              </a:lnSpc>
              <a:spcBef>
                <a:spcPts val="1800"/>
              </a:spcBef>
              <a:spcAft>
                <a:spcPts val="1800"/>
              </a:spcAft>
              <a:buNone/>
            </a:pPr>
            <a:r>
              <a:rPr lang="en" sz="1100">
                <a:solidFill>
                  <a:schemeClr val="dk1"/>
                </a:solidFill>
              </a:rPr>
              <a:t>Navigation Points (NAV Points)</a:t>
            </a:r>
            <a:br>
              <a:rPr lang="en" sz="1100">
                <a:solidFill>
                  <a:schemeClr val="dk1"/>
                </a:solidFill>
              </a:rPr>
            </a:br>
            <a:r>
              <a:rPr lang="en" sz="1100">
                <a:solidFill>
                  <a:schemeClr val="dk1"/>
                </a:solidFill>
              </a:rPr>
              <a:t> – Named using codewords.</a:t>
            </a:r>
            <a:br>
              <a:rPr lang="en" sz="1100">
                <a:solidFill>
                  <a:schemeClr val="dk1"/>
                </a:solidFill>
              </a:rPr>
            </a:br>
            <a:r>
              <a:rPr lang="en" sz="1100">
                <a:solidFill>
                  <a:schemeClr val="dk1"/>
                </a:solidFill>
              </a:rPr>
              <a:t> – Placed at key terrain, distance markers, intersections, choke points, or decision points.</a:t>
            </a:r>
            <a:br>
              <a:rPr lang="en" sz="1100">
                <a:solidFill>
                  <a:schemeClr val="dk1"/>
                </a:solidFill>
              </a:rPr>
            </a:br>
            <a:r>
              <a:rPr lang="en" sz="1100">
                <a:solidFill>
                  <a:schemeClr val="dk1"/>
                </a:solidFill>
              </a:rPr>
              <a:t> – Used to maintain situational awareness and track convoy progress.</a:t>
            </a:r>
            <a:endParaRPr sz="1100">
              <a:solidFill>
                <a:schemeClr val="dk1"/>
              </a:solidFill>
            </a:endParaRPr>
          </a:p>
        </p:txBody>
      </p:sp>
      <p:sp>
        <p:nvSpPr>
          <p:cNvPr id="88" name="Google Shape;88;p17"/>
          <p:cNvSpPr txBox="1"/>
          <p:nvPr/>
        </p:nvSpPr>
        <p:spPr>
          <a:xfrm>
            <a:off x="172650" y="643925"/>
            <a:ext cx="6627000" cy="36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1800"/>
              </a:spcAft>
              <a:buClr>
                <a:schemeClr val="dk1"/>
              </a:buClr>
              <a:buSzPts val="1100"/>
              <a:buFont typeface="Arial"/>
              <a:buNone/>
            </a:pPr>
            <a:r>
              <a:rPr b="1" lang="en" sz="1800">
                <a:solidFill>
                  <a:schemeClr val="dk1"/>
                </a:solidFill>
              </a:rPr>
              <a:t>Route Marking &amp; Planning</a:t>
            </a:r>
            <a:endParaRPr b="1" sz="1800">
              <a:solidFill>
                <a:schemeClr val="dk2"/>
              </a:solidFill>
            </a:endParaRPr>
          </a:p>
        </p:txBody>
      </p:sp>
      <p:pic>
        <p:nvPicPr>
          <p:cNvPr id="89" name="Google Shape;89;p17"/>
          <p:cNvPicPr preferRelativeResize="0"/>
          <p:nvPr/>
        </p:nvPicPr>
        <p:blipFill>
          <a:blip r:embed="rId3">
            <a:alphaModFix/>
          </a:blip>
          <a:stretch>
            <a:fillRect/>
          </a:stretch>
        </p:blipFill>
        <p:spPr>
          <a:xfrm>
            <a:off x="6198825" y="643925"/>
            <a:ext cx="2188963" cy="4032299"/>
          </a:xfrm>
          <a:prstGeom prst="rect">
            <a:avLst/>
          </a:prstGeom>
          <a:noFill/>
          <a:ln>
            <a:noFill/>
          </a:ln>
        </p:spPr>
      </p:pic>
      <p:cxnSp>
        <p:nvCxnSpPr>
          <p:cNvPr id="90" name="Google Shape;90;p17"/>
          <p:cNvCxnSpPr/>
          <p:nvPr/>
        </p:nvCxnSpPr>
        <p:spPr>
          <a:xfrm>
            <a:off x="0" y="457200"/>
            <a:ext cx="9308100" cy="11400"/>
          </a:xfrm>
          <a:prstGeom prst="straightConnector1">
            <a:avLst/>
          </a:prstGeom>
          <a:noFill/>
          <a:ln cap="flat" cmpd="sng" w="38100">
            <a:solidFill>
              <a:srgbClr val="1C2B66"/>
            </a:solidFill>
            <a:prstDash val="solid"/>
            <a:round/>
            <a:headEnd len="med" w="med" type="none"/>
            <a:tailEnd len="med" w="med" type="none"/>
          </a:ln>
        </p:spPr>
      </p:cxnSp>
      <p:sp>
        <p:nvSpPr>
          <p:cNvPr id="91" name="Google Shape;91;p17"/>
          <p:cNvSpPr txBox="1"/>
          <p:nvPr/>
        </p:nvSpPr>
        <p:spPr>
          <a:xfrm>
            <a:off x="84900" y="-101850"/>
            <a:ext cx="8974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1C2B66"/>
                </a:solidFill>
                <a:latin typeface="Times New Roman"/>
                <a:ea typeface="Times New Roman"/>
                <a:cs typeface="Times New Roman"/>
                <a:sym typeface="Times New Roman"/>
              </a:rPr>
              <a:t>Route Marking &amp; Planning</a:t>
            </a:r>
            <a:endParaRPr b="1" sz="2600">
              <a:solidFill>
                <a:srgbClr val="1C2B66"/>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nvSpPr>
        <p:spPr>
          <a:xfrm>
            <a:off x="478475" y="1278550"/>
            <a:ext cx="4699800" cy="282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Convoy Commander / GFC</a:t>
            </a:r>
            <a:br>
              <a:rPr lang="en" sz="1100">
                <a:solidFill>
                  <a:schemeClr val="dk1"/>
                </a:solidFill>
              </a:rPr>
            </a:br>
            <a:r>
              <a:rPr lang="en" sz="1100">
                <a:solidFill>
                  <a:schemeClr val="dk1"/>
                </a:solidFill>
              </a:rPr>
              <a:t> “Vehicle check-in on XXX freq.”</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Individual Vehicles</a:t>
            </a:r>
            <a:br>
              <a:rPr lang="en" sz="1100">
                <a:solidFill>
                  <a:schemeClr val="dk1"/>
                </a:solidFill>
              </a:rPr>
            </a:br>
            <a:r>
              <a:rPr lang="en" sz="1100">
                <a:solidFill>
                  <a:schemeClr val="dk1"/>
                </a:solidFill>
              </a:rPr>
              <a:t> “Vic 1 up with 2.”</a:t>
            </a:r>
            <a:br>
              <a:rPr lang="en" sz="1100">
                <a:solidFill>
                  <a:schemeClr val="dk1"/>
                </a:solidFill>
              </a:rPr>
            </a:br>
            <a:r>
              <a:rPr lang="en" sz="1100">
                <a:solidFill>
                  <a:schemeClr val="dk1"/>
                </a:solidFill>
              </a:rPr>
              <a:t> “Vic 2 up with 3.”</a:t>
            </a:r>
            <a:br>
              <a:rPr lang="en" sz="1100">
                <a:solidFill>
                  <a:schemeClr val="dk1"/>
                </a:solidFill>
              </a:rPr>
            </a:br>
            <a:r>
              <a:rPr lang="en" sz="1100">
                <a:solidFill>
                  <a:schemeClr val="dk1"/>
                </a:solidFill>
              </a:rPr>
              <a:t> “Vic 3 up with 4.”</a:t>
            </a:r>
            <a:br>
              <a:rPr lang="en" sz="1100">
                <a:solidFill>
                  <a:schemeClr val="dk1"/>
                </a:solidFill>
              </a:rPr>
            </a:br>
            <a:r>
              <a:rPr lang="en" sz="1100">
                <a:solidFill>
                  <a:schemeClr val="dk1"/>
                </a:solidFill>
              </a:rPr>
              <a:t> </a:t>
            </a:r>
            <a:r>
              <a:rPr i="1" lang="en" sz="1100">
                <a:solidFill>
                  <a:schemeClr val="dk1"/>
                </a:solidFill>
              </a:rPr>
              <a:t>(Format: “Vic # up with total personnel”)</a:t>
            </a:r>
            <a:endParaRPr i="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Convoy Commander / GFC</a:t>
            </a:r>
            <a:br>
              <a:rPr lang="en" sz="1100">
                <a:solidFill>
                  <a:schemeClr val="dk1"/>
                </a:solidFill>
              </a:rPr>
            </a:br>
            <a:r>
              <a:rPr lang="en" sz="1100">
                <a:solidFill>
                  <a:schemeClr val="dk1"/>
                </a:solidFill>
              </a:rPr>
              <a:t> “Vic 1, cleared to move/roll.”</a:t>
            </a:r>
            <a:endParaRPr sz="1100">
              <a:solidFill>
                <a:schemeClr val="dk1"/>
              </a:solidFill>
            </a:endParaRPr>
          </a:p>
          <a:p>
            <a:pPr indent="0" lvl="0" marL="0" rtl="0" algn="l">
              <a:spcBef>
                <a:spcPts val="1200"/>
              </a:spcBef>
              <a:spcAft>
                <a:spcPts val="0"/>
              </a:spcAft>
              <a:buNone/>
            </a:pPr>
            <a:r>
              <a:t/>
            </a:r>
            <a:endParaRPr sz="1100">
              <a:solidFill>
                <a:schemeClr val="dk2"/>
              </a:solidFill>
            </a:endParaRPr>
          </a:p>
        </p:txBody>
      </p:sp>
      <p:sp>
        <p:nvSpPr>
          <p:cNvPr id="97" name="Google Shape;97;p18"/>
          <p:cNvSpPr txBox="1"/>
          <p:nvPr/>
        </p:nvSpPr>
        <p:spPr>
          <a:xfrm>
            <a:off x="478475" y="828900"/>
            <a:ext cx="66270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dk1"/>
                </a:solidFill>
              </a:rPr>
              <a:t>Convoy Start Movement</a:t>
            </a:r>
            <a:endParaRPr b="1" sz="1800">
              <a:solidFill>
                <a:schemeClr val="dk2"/>
              </a:solidFill>
            </a:endParaRPr>
          </a:p>
        </p:txBody>
      </p:sp>
      <p:cxnSp>
        <p:nvCxnSpPr>
          <p:cNvPr id="98" name="Google Shape;98;p18"/>
          <p:cNvCxnSpPr/>
          <p:nvPr/>
        </p:nvCxnSpPr>
        <p:spPr>
          <a:xfrm>
            <a:off x="0" y="457200"/>
            <a:ext cx="9308100" cy="11400"/>
          </a:xfrm>
          <a:prstGeom prst="straightConnector1">
            <a:avLst/>
          </a:prstGeom>
          <a:noFill/>
          <a:ln cap="flat" cmpd="sng" w="38100">
            <a:solidFill>
              <a:srgbClr val="1C2B66"/>
            </a:solidFill>
            <a:prstDash val="solid"/>
            <a:round/>
            <a:headEnd len="med" w="med" type="none"/>
            <a:tailEnd len="med" w="med" type="none"/>
          </a:ln>
        </p:spPr>
      </p:cxnSp>
      <p:sp>
        <p:nvSpPr>
          <p:cNvPr id="99" name="Google Shape;99;p18"/>
          <p:cNvSpPr txBox="1"/>
          <p:nvPr/>
        </p:nvSpPr>
        <p:spPr>
          <a:xfrm>
            <a:off x="84900" y="-101850"/>
            <a:ext cx="8974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1C2B66"/>
                </a:solidFill>
                <a:latin typeface="Times New Roman"/>
                <a:ea typeface="Times New Roman"/>
                <a:cs typeface="Times New Roman"/>
                <a:sym typeface="Times New Roman"/>
              </a:rPr>
              <a:t>Radio Brevity</a:t>
            </a:r>
            <a:endParaRPr b="1" sz="2600">
              <a:solidFill>
                <a:srgbClr val="1C2B66"/>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nvSpPr>
        <p:spPr>
          <a:xfrm>
            <a:off x="379000" y="1407375"/>
            <a:ext cx="6763500" cy="179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dk1"/>
                </a:solidFill>
              </a:rPr>
              <a:t> The Convoy Commander is responsible for selecting and briefing the route, delivering the movement plan in a METT-TC format, and making all major movement decisions such as directing a herringbone or other security posture unless incapacitated or directly involved in the incident. In emergency situations, other personnel may take initiative as required.</a:t>
            </a:r>
            <a:endParaRPr sz="1200">
              <a:solidFill>
                <a:schemeClr val="dk1"/>
              </a:solidFill>
            </a:endParaRPr>
          </a:p>
          <a:p>
            <a:pPr indent="0" lvl="0" marL="0" rtl="0" algn="l">
              <a:lnSpc>
                <a:spcPct val="115000"/>
              </a:lnSpc>
              <a:spcBef>
                <a:spcPts val="1200"/>
              </a:spcBef>
              <a:spcAft>
                <a:spcPts val="1200"/>
              </a:spcAft>
              <a:buNone/>
            </a:pPr>
            <a:r>
              <a:rPr lang="en" sz="1200">
                <a:solidFill>
                  <a:schemeClr val="dk1"/>
                </a:solidFill>
              </a:rPr>
              <a:t>The Convoy Commander must also ensure all contingency plans are established and understood, including actions for downed vehicles, redistribution of personnel, passenger count per vehicle, and individual task assignments.</a:t>
            </a:r>
            <a:endParaRPr sz="1200">
              <a:solidFill>
                <a:schemeClr val="dk1"/>
              </a:solidFill>
            </a:endParaRPr>
          </a:p>
        </p:txBody>
      </p:sp>
      <p:sp>
        <p:nvSpPr>
          <p:cNvPr id="105" name="Google Shape;105;p19"/>
          <p:cNvSpPr txBox="1"/>
          <p:nvPr/>
        </p:nvSpPr>
        <p:spPr>
          <a:xfrm>
            <a:off x="379000" y="920575"/>
            <a:ext cx="5958300" cy="46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500">
                <a:solidFill>
                  <a:schemeClr val="dk1"/>
                </a:solidFill>
              </a:rPr>
              <a:t>Convoy Commander / Ground Force Commander if Applicable</a:t>
            </a:r>
            <a:endParaRPr sz="1500">
              <a:solidFill>
                <a:schemeClr val="dk2"/>
              </a:solidFill>
            </a:endParaRPr>
          </a:p>
        </p:txBody>
      </p:sp>
      <p:cxnSp>
        <p:nvCxnSpPr>
          <p:cNvPr id="106" name="Google Shape;106;p19"/>
          <p:cNvCxnSpPr/>
          <p:nvPr/>
        </p:nvCxnSpPr>
        <p:spPr>
          <a:xfrm>
            <a:off x="0" y="457200"/>
            <a:ext cx="9308100" cy="11400"/>
          </a:xfrm>
          <a:prstGeom prst="straightConnector1">
            <a:avLst/>
          </a:prstGeom>
          <a:noFill/>
          <a:ln cap="flat" cmpd="sng" w="38100">
            <a:solidFill>
              <a:srgbClr val="1C2B66"/>
            </a:solidFill>
            <a:prstDash val="solid"/>
            <a:round/>
            <a:headEnd len="med" w="med" type="none"/>
            <a:tailEnd len="med" w="med" type="none"/>
          </a:ln>
        </p:spPr>
      </p:cxnSp>
      <p:sp>
        <p:nvSpPr>
          <p:cNvPr id="107" name="Google Shape;107;p19"/>
          <p:cNvSpPr txBox="1"/>
          <p:nvPr/>
        </p:nvSpPr>
        <p:spPr>
          <a:xfrm>
            <a:off x="84900" y="-101850"/>
            <a:ext cx="8974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1C2B66"/>
                </a:solidFill>
                <a:latin typeface="Times New Roman"/>
                <a:ea typeface="Times New Roman"/>
                <a:cs typeface="Times New Roman"/>
                <a:sym typeface="Times New Roman"/>
              </a:rPr>
              <a:t>Roles &amp; </a:t>
            </a:r>
            <a:r>
              <a:rPr b="1" lang="en" sz="2600">
                <a:solidFill>
                  <a:srgbClr val="1C2B66"/>
                </a:solidFill>
                <a:latin typeface="Times New Roman"/>
                <a:ea typeface="Times New Roman"/>
                <a:cs typeface="Times New Roman"/>
                <a:sym typeface="Times New Roman"/>
              </a:rPr>
              <a:t>Responsibilities</a:t>
            </a:r>
            <a:endParaRPr b="1" sz="2600">
              <a:solidFill>
                <a:srgbClr val="1C2B66"/>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nvSpPr>
        <p:spPr>
          <a:xfrm>
            <a:off x="273100" y="1243175"/>
            <a:ext cx="4299600" cy="296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Driver</a:t>
            </a:r>
            <a:br>
              <a:rPr lang="en" sz="1100">
                <a:solidFill>
                  <a:schemeClr val="dk1"/>
                </a:solidFill>
              </a:rPr>
            </a:br>
            <a:r>
              <a:rPr lang="en" sz="1100">
                <a:solidFill>
                  <a:schemeClr val="dk1"/>
                </a:solidFill>
              </a:rPr>
              <a:t> – Responsible for driving and vehicle control.</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Navigator</a:t>
            </a:r>
            <a:br>
              <a:rPr lang="en" sz="1100">
                <a:solidFill>
                  <a:schemeClr val="dk1"/>
                </a:solidFill>
              </a:rPr>
            </a:br>
            <a:r>
              <a:rPr lang="en" sz="1100">
                <a:solidFill>
                  <a:schemeClr val="dk1"/>
                </a:solidFill>
              </a:rPr>
              <a:t> – Handles radio communications.</a:t>
            </a:r>
            <a:br>
              <a:rPr lang="en" sz="1100">
                <a:solidFill>
                  <a:schemeClr val="dk1"/>
                </a:solidFill>
              </a:rPr>
            </a:br>
            <a:r>
              <a:rPr lang="en" sz="1100">
                <a:solidFill>
                  <a:schemeClr val="dk1"/>
                </a:solidFill>
              </a:rPr>
              <a:t> – Relays route updates, hazards, and information to the driver.</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Driving Restrictions</a:t>
            </a:r>
            <a:br>
              <a:rPr lang="en" sz="1100">
                <a:solidFill>
                  <a:schemeClr val="dk1"/>
                </a:solidFill>
              </a:rPr>
            </a:br>
            <a:r>
              <a:rPr lang="en" sz="1100">
                <a:solidFill>
                  <a:schemeClr val="dk1"/>
                </a:solidFill>
              </a:rPr>
              <a:t> – Medics / CLS should not drive unless necessary.</a:t>
            </a:r>
            <a:br>
              <a:rPr lang="en" sz="1100">
                <a:solidFill>
                  <a:schemeClr val="dk1"/>
                </a:solidFill>
              </a:rPr>
            </a:br>
            <a:r>
              <a:rPr lang="en" sz="1100">
                <a:solidFill>
                  <a:schemeClr val="dk1"/>
                </a:solidFill>
              </a:rPr>
              <a:t> – Any personnel restricted by Team Leaders or senior personnel.</a:t>
            </a:r>
            <a:br>
              <a:rPr lang="en" sz="1100">
                <a:solidFill>
                  <a:schemeClr val="dk1"/>
                </a:solidFill>
              </a:rPr>
            </a:br>
            <a:r>
              <a:rPr lang="en" sz="1100">
                <a:solidFill>
                  <a:schemeClr val="dk1"/>
                </a:solidFill>
              </a:rPr>
              <a:t> – Key medical personnel (e.g., M1) should not be placed in the lead vehicle.</a:t>
            </a:r>
            <a:endParaRPr sz="1100">
              <a:solidFill>
                <a:schemeClr val="dk1"/>
              </a:solidFill>
            </a:endParaRPr>
          </a:p>
          <a:p>
            <a:pPr indent="0" lvl="0" marL="0" rtl="0" algn="l">
              <a:lnSpc>
                <a:spcPct val="115000"/>
              </a:lnSpc>
              <a:spcBef>
                <a:spcPts val="2800"/>
              </a:spcBef>
              <a:spcAft>
                <a:spcPts val="2800"/>
              </a:spcAft>
              <a:buNone/>
            </a:pPr>
            <a:r>
              <a:t/>
            </a:r>
            <a:endParaRPr sz="1100">
              <a:solidFill>
                <a:schemeClr val="dk2"/>
              </a:solidFill>
            </a:endParaRPr>
          </a:p>
        </p:txBody>
      </p:sp>
      <p:sp>
        <p:nvSpPr>
          <p:cNvPr id="113" name="Google Shape;113;p20"/>
          <p:cNvSpPr txBox="1"/>
          <p:nvPr/>
        </p:nvSpPr>
        <p:spPr>
          <a:xfrm>
            <a:off x="5200450" y="357763"/>
            <a:ext cx="41229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Dismount Types</a:t>
            </a:r>
            <a:endParaRPr b="1" sz="1800">
              <a:solidFill>
                <a:schemeClr val="dk2"/>
              </a:solidFill>
            </a:endParaRPr>
          </a:p>
        </p:txBody>
      </p:sp>
      <p:sp>
        <p:nvSpPr>
          <p:cNvPr id="114" name="Google Shape;114;p20"/>
          <p:cNvSpPr txBox="1"/>
          <p:nvPr/>
        </p:nvSpPr>
        <p:spPr>
          <a:xfrm>
            <a:off x="5200450" y="823150"/>
            <a:ext cx="3644100" cy="133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Soft Dismounts</a:t>
            </a:r>
            <a:br>
              <a:rPr lang="en" sz="1100">
                <a:solidFill>
                  <a:schemeClr val="dk1"/>
                </a:solidFill>
              </a:rPr>
            </a:br>
            <a:r>
              <a:rPr lang="en" sz="1100">
                <a:solidFill>
                  <a:schemeClr val="dk1"/>
                </a:solidFill>
              </a:rPr>
              <a:t> – Non-essential passengers</a:t>
            </a:r>
            <a:br>
              <a:rPr lang="en" sz="1100">
                <a:solidFill>
                  <a:schemeClr val="dk1"/>
                </a:solidFill>
              </a:rPr>
            </a:br>
            <a:r>
              <a:rPr lang="en" sz="1100">
                <a:solidFill>
                  <a:schemeClr val="dk1"/>
                </a:solidFill>
              </a:rPr>
              <a:t> – Driver / Gunner typically remain with the vehicle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Hard Dismounts</a:t>
            </a:r>
            <a:br>
              <a:rPr lang="en" sz="1100">
                <a:solidFill>
                  <a:schemeClr val="dk1"/>
                </a:solidFill>
              </a:rPr>
            </a:br>
            <a:r>
              <a:rPr lang="en" sz="1100">
                <a:solidFill>
                  <a:schemeClr val="dk1"/>
                </a:solidFill>
              </a:rPr>
              <a:t> – All passengers dismount</a:t>
            </a:r>
            <a:endParaRPr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2800"/>
              </a:spcBef>
              <a:spcAft>
                <a:spcPts val="0"/>
              </a:spcAft>
              <a:buNone/>
            </a:pPr>
            <a:r>
              <a:t/>
            </a:r>
            <a:endParaRPr sz="1700">
              <a:solidFill>
                <a:schemeClr val="dk2"/>
              </a:solidFill>
            </a:endParaRPr>
          </a:p>
          <a:p>
            <a:pPr indent="0" lvl="0" marL="0" rtl="0" algn="l">
              <a:lnSpc>
                <a:spcPct val="115000"/>
              </a:lnSpc>
              <a:spcBef>
                <a:spcPts val="2800"/>
              </a:spcBef>
              <a:spcAft>
                <a:spcPts val="0"/>
              </a:spcAft>
              <a:buNone/>
            </a:pPr>
            <a:r>
              <a:t/>
            </a:r>
            <a:endParaRPr b="1" sz="1100">
              <a:solidFill>
                <a:schemeClr val="dk1"/>
              </a:solidFill>
            </a:endParaRPr>
          </a:p>
          <a:p>
            <a:pPr indent="0" lvl="0" marL="0" rtl="0" algn="l">
              <a:lnSpc>
                <a:spcPct val="115000"/>
              </a:lnSpc>
              <a:spcBef>
                <a:spcPts val="2800"/>
              </a:spcBef>
              <a:spcAft>
                <a:spcPts val="2800"/>
              </a:spcAft>
              <a:buNone/>
            </a:pPr>
            <a:r>
              <a:t/>
            </a:r>
            <a:endParaRPr sz="1700">
              <a:solidFill>
                <a:schemeClr val="dk2"/>
              </a:solidFill>
            </a:endParaRPr>
          </a:p>
        </p:txBody>
      </p:sp>
      <p:sp>
        <p:nvSpPr>
          <p:cNvPr id="115" name="Google Shape;115;p20"/>
          <p:cNvSpPr/>
          <p:nvPr/>
        </p:nvSpPr>
        <p:spPr>
          <a:xfrm>
            <a:off x="5000930" y="3224636"/>
            <a:ext cx="498600" cy="937200"/>
          </a:xfrm>
          <a:prstGeom prst="roundRect">
            <a:avLst>
              <a:gd fmla="val 16667" name="adj"/>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20"/>
          <p:cNvSpPr/>
          <p:nvPr/>
        </p:nvSpPr>
        <p:spPr>
          <a:xfrm>
            <a:off x="6708380" y="3224636"/>
            <a:ext cx="498600" cy="937200"/>
          </a:xfrm>
          <a:prstGeom prst="roundRect">
            <a:avLst>
              <a:gd fmla="val 16667" name="adj"/>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20"/>
          <p:cNvSpPr/>
          <p:nvPr/>
        </p:nvSpPr>
        <p:spPr>
          <a:xfrm>
            <a:off x="4732925" y="3822888"/>
            <a:ext cx="198000" cy="195300"/>
          </a:xfrm>
          <a:prstGeom prst="ellipse">
            <a:avLst/>
          </a:prstGeom>
          <a:solidFill>
            <a:schemeClr val="lt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20"/>
          <p:cNvSpPr/>
          <p:nvPr/>
        </p:nvSpPr>
        <p:spPr>
          <a:xfrm>
            <a:off x="5569525" y="3866188"/>
            <a:ext cx="198000" cy="195300"/>
          </a:xfrm>
          <a:prstGeom prst="ellipse">
            <a:avLst/>
          </a:prstGeom>
          <a:solidFill>
            <a:schemeClr val="lt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0"/>
          <p:cNvSpPr/>
          <p:nvPr/>
        </p:nvSpPr>
        <p:spPr>
          <a:xfrm>
            <a:off x="4732925" y="3273763"/>
            <a:ext cx="198000" cy="195300"/>
          </a:xfrm>
          <a:prstGeom prst="ellipse">
            <a:avLst/>
          </a:prstGeom>
          <a:solidFill>
            <a:schemeClr val="lt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20"/>
          <p:cNvSpPr/>
          <p:nvPr/>
        </p:nvSpPr>
        <p:spPr>
          <a:xfrm>
            <a:off x="5554075" y="3273763"/>
            <a:ext cx="198000" cy="195300"/>
          </a:xfrm>
          <a:prstGeom prst="ellipse">
            <a:avLst/>
          </a:prstGeom>
          <a:solidFill>
            <a:schemeClr val="lt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20"/>
          <p:cNvSpPr/>
          <p:nvPr/>
        </p:nvSpPr>
        <p:spPr>
          <a:xfrm>
            <a:off x="6746425" y="3303063"/>
            <a:ext cx="198000" cy="195300"/>
          </a:xfrm>
          <a:prstGeom prst="ellipse">
            <a:avLst/>
          </a:prstGeom>
          <a:solidFill>
            <a:schemeClr val="lt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20"/>
          <p:cNvSpPr/>
          <p:nvPr/>
        </p:nvSpPr>
        <p:spPr>
          <a:xfrm>
            <a:off x="6858675" y="3595588"/>
            <a:ext cx="198000" cy="195300"/>
          </a:xfrm>
          <a:prstGeom prst="ellipse">
            <a:avLst/>
          </a:prstGeom>
          <a:solidFill>
            <a:schemeClr val="lt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3" name="Google Shape;123;p20"/>
          <p:cNvCxnSpPr/>
          <p:nvPr/>
        </p:nvCxnSpPr>
        <p:spPr>
          <a:xfrm flipH="1">
            <a:off x="7108929" y="2834164"/>
            <a:ext cx="657600" cy="811500"/>
          </a:xfrm>
          <a:prstGeom prst="straightConnector1">
            <a:avLst/>
          </a:prstGeom>
          <a:noFill/>
          <a:ln cap="flat" cmpd="sng" w="9525">
            <a:solidFill>
              <a:schemeClr val="dk2"/>
            </a:solidFill>
            <a:prstDash val="solid"/>
            <a:round/>
            <a:headEnd len="med" w="med" type="none"/>
            <a:tailEnd len="med" w="med" type="triangle"/>
          </a:ln>
        </p:spPr>
      </p:cxnSp>
      <p:sp>
        <p:nvSpPr>
          <p:cNvPr id="124" name="Google Shape;124;p20"/>
          <p:cNvSpPr txBox="1"/>
          <p:nvPr/>
        </p:nvSpPr>
        <p:spPr>
          <a:xfrm>
            <a:off x="7461025" y="2483588"/>
            <a:ext cx="1428600" cy="40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CSW</a:t>
            </a:r>
            <a:endParaRPr sz="1800">
              <a:solidFill>
                <a:schemeClr val="dk2"/>
              </a:solidFill>
            </a:endParaRPr>
          </a:p>
        </p:txBody>
      </p:sp>
      <p:sp>
        <p:nvSpPr>
          <p:cNvPr id="125" name="Google Shape;125;p20"/>
          <p:cNvSpPr txBox="1"/>
          <p:nvPr/>
        </p:nvSpPr>
        <p:spPr>
          <a:xfrm>
            <a:off x="4782850" y="2826038"/>
            <a:ext cx="1100700" cy="1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HARD</a:t>
            </a:r>
            <a:endParaRPr sz="1800">
              <a:solidFill>
                <a:schemeClr val="dk2"/>
              </a:solidFill>
            </a:endParaRPr>
          </a:p>
        </p:txBody>
      </p:sp>
      <p:sp>
        <p:nvSpPr>
          <p:cNvPr id="126" name="Google Shape;126;p20"/>
          <p:cNvSpPr txBox="1"/>
          <p:nvPr/>
        </p:nvSpPr>
        <p:spPr>
          <a:xfrm>
            <a:off x="6620500" y="2847513"/>
            <a:ext cx="1100700" cy="1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SOFT</a:t>
            </a:r>
            <a:endParaRPr sz="1800">
              <a:solidFill>
                <a:schemeClr val="dk2"/>
              </a:solidFill>
            </a:endParaRPr>
          </a:p>
        </p:txBody>
      </p:sp>
      <p:sp>
        <p:nvSpPr>
          <p:cNvPr id="127" name="Google Shape;127;p20"/>
          <p:cNvSpPr txBox="1"/>
          <p:nvPr/>
        </p:nvSpPr>
        <p:spPr>
          <a:xfrm>
            <a:off x="287600" y="778775"/>
            <a:ext cx="3929400" cy="46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500">
                <a:solidFill>
                  <a:schemeClr val="dk1"/>
                </a:solidFill>
              </a:rPr>
              <a:t>Driver</a:t>
            </a:r>
            <a:r>
              <a:rPr lang="en" sz="1500">
                <a:solidFill>
                  <a:schemeClr val="dk1"/>
                </a:solidFill>
              </a:rPr>
              <a:t> / Navigator</a:t>
            </a:r>
            <a:endParaRPr sz="1500">
              <a:solidFill>
                <a:schemeClr val="dk2"/>
              </a:solidFill>
            </a:endParaRPr>
          </a:p>
        </p:txBody>
      </p:sp>
      <p:cxnSp>
        <p:nvCxnSpPr>
          <p:cNvPr id="128" name="Google Shape;128;p20"/>
          <p:cNvCxnSpPr>
            <a:stCxn id="129" idx="2"/>
          </p:cNvCxnSpPr>
          <p:nvPr/>
        </p:nvCxnSpPr>
        <p:spPr>
          <a:xfrm>
            <a:off x="4572000" y="483150"/>
            <a:ext cx="600" cy="4660500"/>
          </a:xfrm>
          <a:prstGeom prst="straightConnector1">
            <a:avLst/>
          </a:prstGeom>
          <a:noFill/>
          <a:ln cap="flat" cmpd="sng" w="19050">
            <a:solidFill>
              <a:schemeClr val="dk2"/>
            </a:solidFill>
            <a:prstDash val="solid"/>
            <a:round/>
            <a:headEnd len="med" w="med" type="none"/>
            <a:tailEnd len="med" w="med" type="none"/>
          </a:ln>
        </p:spPr>
      </p:cxnSp>
      <p:cxnSp>
        <p:nvCxnSpPr>
          <p:cNvPr id="130" name="Google Shape;130;p20"/>
          <p:cNvCxnSpPr/>
          <p:nvPr/>
        </p:nvCxnSpPr>
        <p:spPr>
          <a:xfrm>
            <a:off x="0" y="457200"/>
            <a:ext cx="9308100" cy="11400"/>
          </a:xfrm>
          <a:prstGeom prst="straightConnector1">
            <a:avLst/>
          </a:prstGeom>
          <a:noFill/>
          <a:ln cap="flat" cmpd="sng" w="38100">
            <a:solidFill>
              <a:srgbClr val="1C2B66"/>
            </a:solidFill>
            <a:prstDash val="solid"/>
            <a:round/>
            <a:headEnd len="med" w="med" type="none"/>
            <a:tailEnd len="med" w="med" type="none"/>
          </a:ln>
        </p:spPr>
      </p:cxnSp>
      <p:sp>
        <p:nvSpPr>
          <p:cNvPr id="129" name="Google Shape;129;p20"/>
          <p:cNvSpPr txBox="1"/>
          <p:nvPr/>
        </p:nvSpPr>
        <p:spPr>
          <a:xfrm>
            <a:off x="84900" y="-101850"/>
            <a:ext cx="8974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solidFill>
                  <a:srgbClr val="1C2B66"/>
                </a:solidFill>
                <a:latin typeface="Times New Roman"/>
                <a:ea typeface="Times New Roman"/>
                <a:cs typeface="Times New Roman"/>
                <a:sym typeface="Times New Roman"/>
              </a:rPr>
              <a:t>Roles &amp; </a:t>
            </a:r>
            <a:r>
              <a:rPr b="1" lang="en" sz="2600">
                <a:solidFill>
                  <a:srgbClr val="1C2B66"/>
                </a:solidFill>
                <a:latin typeface="Times New Roman"/>
                <a:ea typeface="Times New Roman"/>
                <a:cs typeface="Times New Roman"/>
                <a:sym typeface="Times New Roman"/>
              </a:rPr>
              <a:t>Responsibilities</a:t>
            </a:r>
            <a:endParaRPr b="1" sz="2600">
              <a:solidFill>
                <a:srgbClr val="1C2B66"/>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nvSpPr>
        <p:spPr>
          <a:xfrm>
            <a:off x="398325" y="944800"/>
            <a:ext cx="8317500" cy="183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800">
                <a:solidFill>
                  <a:schemeClr val="dk2"/>
                </a:solidFill>
              </a:rPr>
              <a:t>The herringbone is a security technique used when operating in closed or confined terrain where vehicles cannot pull fully off the main route such as urban areas, dense forests, narrow mountain roads, or restricted MSRs. In this formation, vehicles angle alternately left and right, creating staggered fields of fire and maximizing 360° security.</a:t>
            </a:r>
            <a:endParaRPr sz="1800">
              <a:solidFill>
                <a:schemeClr val="dk2"/>
              </a:solidFill>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36" name="Google Shape;136;p21"/>
          <p:cNvSpPr/>
          <p:nvPr/>
        </p:nvSpPr>
        <p:spPr>
          <a:xfrm>
            <a:off x="4330744" y="3045900"/>
            <a:ext cx="469200" cy="20976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41675" lIns="41675" spcFirstLastPara="1" rIns="41675" wrap="square" tIns="41675">
            <a:noAutofit/>
          </a:bodyPr>
          <a:lstStyle/>
          <a:p>
            <a:pPr indent="0" lvl="0" marL="0" rtl="0" algn="ctr">
              <a:spcBef>
                <a:spcPts val="0"/>
              </a:spcBef>
              <a:spcAft>
                <a:spcPts val="0"/>
              </a:spcAft>
              <a:buNone/>
            </a:pPr>
            <a:r>
              <a:t/>
            </a:r>
            <a:endParaRPr sz="638"/>
          </a:p>
        </p:txBody>
      </p:sp>
      <p:sp>
        <p:nvSpPr>
          <p:cNvPr id="137" name="Google Shape;137;p21"/>
          <p:cNvSpPr/>
          <p:nvPr/>
        </p:nvSpPr>
        <p:spPr>
          <a:xfrm rot="2510709">
            <a:off x="4727635" y="4673032"/>
            <a:ext cx="215853" cy="405372"/>
          </a:xfrm>
          <a:prstGeom prst="roundRect">
            <a:avLst>
              <a:gd fmla="val 16667" name="adj"/>
            </a:avLst>
          </a:prstGeom>
          <a:solidFill>
            <a:schemeClr val="lt2"/>
          </a:solidFill>
          <a:ln cap="flat" cmpd="sng" w="19050">
            <a:solidFill>
              <a:srgbClr val="FF0000"/>
            </a:solidFill>
            <a:prstDash val="solid"/>
            <a:round/>
            <a:headEnd len="sm" w="sm" type="none"/>
            <a:tailEnd len="sm" w="sm" type="none"/>
          </a:ln>
        </p:spPr>
        <p:txBody>
          <a:bodyPr anchorCtr="0" anchor="ctr" bIns="41675" lIns="41675" spcFirstLastPara="1" rIns="41675" wrap="square" tIns="41675">
            <a:noAutofit/>
          </a:bodyPr>
          <a:lstStyle/>
          <a:p>
            <a:pPr indent="0" lvl="0" marL="0" rtl="0" algn="ctr">
              <a:spcBef>
                <a:spcPts val="0"/>
              </a:spcBef>
              <a:spcAft>
                <a:spcPts val="0"/>
              </a:spcAft>
              <a:buNone/>
            </a:pPr>
            <a:r>
              <a:t/>
            </a:r>
            <a:endParaRPr sz="638"/>
          </a:p>
        </p:txBody>
      </p:sp>
      <p:sp>
        <p:nvSpPr>
          <p:cNvPr id="138" name="Google Shape;138;p21"/>
          <p:cNvSpPr/>
          <p:nvPr/>
        </p:nvSpPr>
        <p:spPr>
          <a:xfrm rot="-2109196">
            <a:off x="4189079" y="4377663"/>
            <a:ext cx="218318" cy="400070"/>
          </a:xfrm>
          <a:prstGeom prst="roundRect">
            <a:avLst>
              <a:gd fmla="val 16667" name="adj"/>
            </a:avLst>
          </a:prstGeom>
          <a:solidFill>
            <a:schemeClr val="lt2"/>
          </a:solidFill>
          <a:ln cap="flat" cmpd="sng" w="19050">
            <a:solidFill>
              <a:srgbClr val="FF0000"/>
            </a:solidFill>
            <a:prstDash val="solid"/>
            <a:round/>
            <a:headEnd len="sm" w="sm" type="none"/>
            <a:tailEnd len="sm" w="sm" type="none"/>
          </a:ln>
        </p:spPr>
        <p:txBody>
          <a:bodyPr anchorCtr="0" anchor="ctr" bIns="41675" lIns="41675" spcFirstLastPara="1" rIns="41675" wrap="square" tIns="41675">
            <a:noAutofit/>
          </a:bodyPr>
          <a:lstStyle/>
          <a:p>
            <a:pPr indent="0" lvl="0" marL="0" rtl="0" algn="ctr">
              <a:spcBef>
                <a:spcPts val="0"/>
              </a:spcBef>
              <a:spcAft>
                <a:spcPts val="0"/>
              </a:spcAft>
              <a:buNone/>
            </a:pPr>
            <a:r>
              <a:t/>
            </a:r>
            <a:endParaRPr sz="638"/>
          </a:p>
        </p:txBody>
      </p:sp>
      <p:sp>
        <p:nvSpPr>
          <p:cNvPr id="139" name="Google Shape;139;p21"/>
          <p:cNvSpPr txBox="1"/>
          <p:nvPr/>
        </p:nvSpPr>
        <p:spPr>
          <a:xfrm>
            <a:off x="398325" y="420000"/>
            <a:ext cx="6627000" cy="3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dk1"/>
                </a:solidFill>
              </a:rPr>
              <a:t>Herringbone technique (Theory)</a:t>
            </a:r>
            <a:endParaRPr b="1"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ctrTitle"/>
          </p:nvPr>
        </p:nvSpPr>
        <p:spPr>
          <a:xfrm>
            <a:off x="311700" y="445025"/>
            <a:ext cx="8520600" cy="572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2500"/>
              <a:t>Y technique (Theory)</a:t>
            </a:r>
            <a:endParaRPr sz="2500"/>
          </a:p>
        </p:txBody>
      </p:sp>
      <p:sp>
        <p:nvSpPr>
          <p:cNvPr id="145" name="Google Shape;145;p22"/>
          <p:cNvSpPr txBox="1"/>
          <p:nvPr/>
        </p:nvSpPr>
        <p:spPr>
          <a:xfrm>
            <a:off x="311700" y="1114325"/>
            <a:ext cx="8373600" cy="195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800"/>
              </a:spcBef>
              <a:spcAft>
                <a:spcPts val="2800"/>
              </a:spcAft>
              <a:buNone/>
            </a:pPr>
            <a:r>
              <a:rPr lang="en" sz="1700">
                <a:solidFill>
                  <a:schemeClr val="dk2"/>
                </a:solidFill>
              </a:rPr>
              <a:t>The Y technique is used when terrain allows vehicles to move well off the road usually up to 100m to gain a wider view of the area. By spreading out into a “Y”shaped pattern, vehicles avoid clustering near the route and reduce the chance of multiple elements being hit within the same lane of fire. This wider dispersion offers better situational awareness and generally provides a safer posture than the herringbone in open or semi open terrain.</a:t>
            </a:r>
            <a:endParaRPr sz="1500">
              <a:solidFill>
                <a:schemeClr val="dk2"/>
              </a:solidFill>
            </a:endParaRPr>
          </a:p>
        </p:txBody>
      </p:sp>
      <p:sp>
        <p:nvSpPr>
          <p:cNvPr id="146" name="Google Shape;146;p22"/>
          <p:cNvSpPr/>
          <p:nvPr/>
        </p:nvSpPr>
        <p:spPr>
          <a:xfrm>
            <a:off x="4301130" y="3008700"/>
            <a:ext cx="427200" cy="21348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37950" lIns="37950" spcFirstLastPara="1" rIns="37950" wrap="square" tIns="37950">
            <a:noAutofit/>
          </a:bodyPr>
          <a:lstStyle/>
          <a:p>
            <a:pPr indent="0" lvl="0" marL="0" rtl="0" algn="ctr">
              <a:spcBef>
                <a:spcPts val="0"/>
              </a:spcBef>
              <a:spcAft>
                <a:spcPts val="0"/>
              </a:spcAft>
              <a:buNone/>
            </a:pPr>
            <a:r>
              <a:t/>
            </a:r>
            <a:endParaRPr sz="581"/>
          </a:p>
        </p:txBody>
      </p:sp>
      <p:sp>
        <p:nvSpPr>
          <p:cNvPr id="147" name="Google Shape;147;p22"/>
          <p:cNvSpPr/>
          <p:nvPr/>
        </p:nvSpPr>
        <p:spPr>
          <a:xfrm rot="2819709">
            <a:off x="5399447" y="4542656"/>
            <a:ext cx="207166" cy="388863"/>
          </a:xfrm>
          <a:prstGeom prst="roundRect">
            <a:avLst>
              <a:gd fmla="val 16667" name="adj"/>
            </a:avLst>
          </a:prstGeom>
          <a:solidFill>
            <a:schemeClr val="lt2"/>
          </a:solidFill>
          <a:ln cap="flat" cmpd="sng" w="19050">
            <a:solidFill>
              <a:srgbClr val="FF0000"/>
            </a:solidFill>
            <a:prstDash val="solid"/>
            <a:round/>
            <a:headEnd len="sm" w="sm" type="none"/>
            <a:tailEnd len="sm" w="sm" type="none"/>
          </a:ln>
        </p:spPr>
        <p:txBody>
          <a:bodyPr anchorCtr="0" anchor="ctr" bIns="37950" lIns="37950" spcFirstLastPara="1" rIns="37950" wrap="square" tIns="37950">
            <a:noAutofit/>
          </a:bodyPr>
          <a:lstStyle/>
          <a:p>
            <a:pPr indent="0" lvl="0" marL="0" rtl="0" algn="ctr">
              <a:spcBef>
                <a:spcPts val="0"/>
              </a:spcBef>
              <a:spcAft>
                <a:spcPts val="0"/>
              </a:spcAft>
              <a:buNone/>
            </a:pPr>
            <a:r>
              <a:t/>
            </a:r>
            <a:endParaRPr sz="581"/>
          </a:p>
        </p:txBody>
      </p:sp>
      <p:sp>
        <p:nvSpPr>
          <p:cNvPr id="148" name="Google Shape;148;p22"/>
          <p:cNvSpPr/>
          <p:nvPr/>
        </p:nvSpPr>
        <p:spPr>
          <a:xfrm rot="-2254116">
            <a:off x="3545029" y="4503247"/>
            <a:ext cx="206655" cy="389130"/>
          </a:xfrm>
          <a:prstGeom prst="roundRect">
            <a:avLst>
              <a:gd fmla="val 16667" name="adj"/>
            </a:avLst>
          </a:prstGeom>
          <a:solidFill>
            <a:schemeClr val="lt2"/>
          </a:solidFill>
          <a:ln cap="flat" cmpd="sng" w="19050">
            <a:solidFill>
              <a:srgbClr val="FF0000"/>
            </a:solidFill>
            <a:prstDash val="solid"/>
            <a:round/>
            <a:headEnd len="sm" w="sm" type="none"/>
            <a:tailEnd len="sm" w="sm" type="none"/>
          </a:ln>
        </p:spPr>
        <p:txBody>
          <a:bodyPr anchorCtr="0" anchor="ctr" bIns="37950" lIns="37950" spcFirstLastPara="1" rIns="37950" wrap="square" tIns="37950">
            <a:noAutofit/>
          </a:bodyPr>
          <a:lstStyle/>
          <a:p>
            <a:pPr indent="0" lvl="0" marL="0" rtl="0" algn="ctr">
              <a:spcBef>
                <a:spcPts val="0"/>
              </a:spcBef>
              <a:spcAft>
                <a:spcPts val="0"/>
              </a:spcAft>
              <a:buNone/>
            </a:pPr>
            <a:r>
              <a:t/>
            </a:r>
            <a:endParaRPr sz="58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ctrTitle"/>
          </p:nvPr>
        </p:nvSpPr>
        <p:spPr>
          <a:xfrm>
            <a:off x="127600" y="445025"/>
            <a:ext cx="4260300" cy="572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2500"/>
              <a:t>B</a:t>
            </a:r>
            <a:r>
              <a:rPr lang="en" sz="2500"/>
              <a:t>low-through</a:t>
            </a:r>
            <a:r>
              <a:rPr lang="en" sz="2500"/>
              <a:t> (Theory)</a:t>
            </a:r>
            <a:endParaRPr sz="2500"/>
          </a:p>
        </p:txBody>
      </p:sp>
      <p:sp>
        <p:nvSpPr>
          <p:cNvPr id="154" name="Google Shape;154;p23"/>
          <p:cNvSpPr txBox="1"/>
          <p:nvPr/>
        </p:nvSpPr>
        <p:spPr>
          <a:xfrm>
            <a:off x="127600" y="1114325"/>
            <a:ext cx="4186800" cy="285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800"/>
              </a:spcBef>
              <a:spcAft>
                <a:spcPts val="2800"/>
              </a:spcAft>
              <a:buNone/>
            </a:pPr>
            <a:r>
              <a:rPr lang="en" sz="1700">
                <a:solidFill>
                  <a:schemeClr val="dk2"/>
                </a:solidFill>
              </a:rPr>
              <a:t>A blow-through is used to rapidly move past an event line or obstacle such as a downed vehicle, hasty checkpoint, small enemy element, or anything deemed necessary without stopping. The goal is to maintain momentum, avoid getting fixed in place, and push the convoy beyond the threat area as quickly as possible.</a:t>
            </a:r>
            <a:endParaRPr sz="1500">
              <a:solidFill>
                <a:schemeClr val="dk2"/>
              </a:solidFill>
            </a:endParaRPr>
          </a:p>
        </p:txBody>
      </p:sp>
      <p:sp>
        <p:nvSpPr>
          <p:cNvPr id="155" name="Google Shape;155;p23"/>
          <p:cNvSpPr txBox="1"/>
          <p:nvPr>
            <p:ph idx="4294967295" type="title"/>
          </p:nvPr>
        </p:nvSpPr>
        <p:spPr>
          <a:xfrm>
            <a:off x="4752300" y="445025"/>
            <a:ext cx="42603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520"/>
              <a:t>Event Line (Theory)</a:t>
            </a:r>
            <a:endParaRPr sz="3420"/>
          </a:p>
        </p:txBody>
      </p:sp>
      <p:sp>
        <p:nvSpPr>
          <p:cNvPr id="156" name="Google Shape;156;p23"/>
          <p:cNvSpPr txBox="1"/>
          <p:nvPr/>
        </p:nvSpPr>
        <p:spPr>
          <a:xfrm>
            <a:off x="4752300" y="1114325"/>
            <a:ext cx="4186800" cy="345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800"/>
              </a:spcBef>
              <a:spcAft>
                <a:spcPts val="2800"/>
              </a:spcAft>
              <a:buNone/>
            </a:pPr>
            <a:r>
              <a:rPr lang="en" sz="1700">
                <a:solidFill>
                  <a:schemeClr val="dk2"/>
                </a:solidFill>
              </a:rPr>
              <a:t>The event line is the identifiable point on the route where the convoy must make a decision: either stay to the</a:t>
            </a:r>
            <a:r>
              <a:rPr b="1" lang="en" sz="1700">
                <a:solidFill>
                  <a:schemeClr val="dk2"/>
                </a:solidFill>
              </a:rPr>
              <a:t> rear</a:t>
            </a:r>
            <a:r>
              <a:rPr lang="en" sz="1700">
                <a:solidFill>
                  <a:schemeClr val="dk2"/>
                </a:solidFill>
              </a:rPr>
              <a:t> or </a:t>
            </a:r>
            <a:r>
              <a:rPr b="1" lang="en" sz="1700">
                <a:solidFill>
                  <a:schemeClr val="dk2"/>
                </a:solidFill>
              </a:rPr>
              <a:t>blow through</a:t>
            </a:r>
            <a:r>
              <a:rPr lang="en" sz="1700">
                <a:solidFill>
                  <a:schemeClr val="dk2"/>
                </a:solidFill>
              </a:rPr>
              <a:t>. It marks the start of the hazard area such as a checkpoint, downed vehicle, blockage, or enemy presence and serves as the trigger for actions on contact. Once a vehicle crosses the event line, the element commits to either stopping to address the situation or maintaining speed and pushing past it.</a:t>
            </a:r>
            <a:endParaRPr sz="1700">
              <a:solidFill>
                <a:schemeClr val="dk2"/>
              </a:solidFill>
            </a:endParaRPr>
          </a:p>
        </p:txBody>
      </p:sp>
      <p:cxnSp>
        <p:nvCxnSpPr>
          <p:cNvPr id="157" name="Google Shape;157;p23"/>
          <p:cNvCxnSpPr/>
          <p:nvPr/>
        </p:nvCxnSpPr>
        <p:spPr>
          <a:xfrm>
            <a:off x="4567550" y="5000"/>
            <a:ext cx="5100" cy="51387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Herringbone</a:t>
            </a:r>
            <a:r>
              <a:rPr lang="en"/>
              <a:t> </a:t>
            </a:r>
            <a:endParaRPr/>
          </a:p>
        </p:txBody>
      </p:sp>
      <p:sp>
        <p:nvSpPr>
          <p:cNvPr id="163" name="Google Shape;163;p24"/>
          <p:cNvSpPr/>
          <p:nvPr/>
        </p:nvSpPr>
        <p:spPr>
          <a:xfrm>
            <a:off x="4057500" y="0"/>
            <a:ext cx="1029000" cy="51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24"/>
          <p:cNvSpPr/>
          <p:nvPr/>
        </p:nvSpPr>
        <p:spPr>
          <a:xfrm rot="2700000">
            <a:off x="4915580" y="4017799"/>
            <a:ext cx="498510" cy="937199"/>
          </a:xfrm>
          <a:prstGeom prst="roundRect">
            <a:avLst>
              <a:gd fmla="val 16667" name="adj"/>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4"/>
          <p:cNvSpPr/>
          <p:nvPr/>
        </p:nvSpPr>
        <p:spPr>
          <a:xfrm rot="-2290480">
            <a:off x="3737217" y="3287423"/>
            <a:ext cx="498009" cy="937263"/>
          </a:xfrm>
          <a:prstGeom prst="roundRect">
            <a:avLst>
              <a:gd fmla="val 16667" name="adj"/>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4"/>
          <p:cNvSpPr txBox="1"/>
          <p:nvPr/>
        </p:nvSpPr>
        <p:spPr>
          <a:xfrm>
            <a:off x="514450" y="1672100"/>
            <a:ext cx="1619100" cy="230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rPr>
              <a:t>INFRONT </a:t>
            </a: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r>
              <a:rPr b="1" lang="en" sz="1800">
                <a:solidFill>
                  <a:schemeClr val="dk2"/>
                </a:solidFill>
              </a:rPr>
              <a:t>REAR</a:t>
            </a:r>
            <a:endParaRPr b="1" sz="1800">
              <a:solidFill>
                <a:schemeClr val="dk2"/>
              </a:solidFill>
            </a:endParaRPr>
          </a:p>
        </p:txBody>
      </p:sp>
      <p:cxnSp>
        <p:nvCxnSpPr>
          <p:cNvPr id="167" name="Google Shape;167;p24"/>
          <p:cNvCxnSpPr/>
          <p:nvPr/>
        </p:nvCxnSpPr>
        <p:spPr>
          <a:xfrm flipH="1" rot="10800000">
            <a:off x="2730075" y="2759675"/>
            <a:ext cx="3749400" cy="32700"/>
          </a:xfrm>
          <a:prstGeom prst="straightConnector1">
            <a:avLst/>
          </a:prstGeom>
          <a:noFill/>
          <a:ln cap="flat" cmpd="sng" w="19050">
            <a:solidFill>
              <a:srgbClr val="FF0000"/>
            </a:solidFill>
            <a:prstDash val="solid"/>
            <a:round/>
            <a:headEnd len="med" w="med" type="none"/>
            <a:tailEnd len="med" w="med" type="none"/>
          </a:ln>
        </p:spPr>
      </p:cxnSp>
      <p:sp>
        <p:nvSpPr>
          <p:cNvPr id="168" name="Google Shape;168;p24"/>
          <p:cNvSpPr txBox="1"/>
          <p:nvPr/>
        </p:nvSpPr>
        <p:spPr>
          <a:xfrm>
            <a:off x="7076000" y="3002425"/>
            <a:ext cx="19797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EVENT LINE </a:t>
            </a:r>
            <a:endParaRPr b="1" sz="1800">
              <a:solidFill>
                <a:schemeClr val="dk2"/>
              </a:solidFill>
            </a:endParaRPr>
          </a:p>
        </p:txBody>
      </p:sp>
      <p:cxnSp>
        <p:nvCxnSpPr>
          <p:cNvPr id="169" name="Google Shape;169;p24"/>
          <p:cNvCxnSpPr>
            <a:stCxn id="168" idx="1"/>
          </p:cNvCxnSpPr>
          <p:nvPr/>
        </p:nvCxnSpPr>
        <p:spPr>
          <a:xfrm rot="10800000">
            <a:off x="6528500" y="2785675"/>
            <a:ext cx="547500" cy="4548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p:nvPr/>
        </p:nvSpPr>
        <p:spPr>
          <a:xfrm>
            <a:off x="4057500" y="0"/>
            <a:ext cx="1029000" cy="51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5"/>
          <p:cNvSpPr/>
          <p:nvPr/>
        </p:nvSpPr>
        <p:spPr>
          <a:xfrm rot="2819907">
            <a:off x="6703604" y="3695604"/>
            <a:ext cx="498814" cy="937140"/>
          </a:xfrm>
          <a:prstGeom prst="roundRect">
            <a:avLst>
              <a:gd fmla="val 16667" name="adj"/>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5"/>
          <p:cNvSpPr/>
          <p:nvPr/>
        </p:nvSpPr>
        <p:spPr>
          <a:xfrm rot="-2254873">
            <a:off x="2188263" y="3525119"/>
            <a:ext cx="497798" cy="937211"/>
          </a:xfrm>
          <a:prstGeom prst="roundRect">
            <a:avLst>
              <a:gd fmla="val 16667" name="adj"/>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“Y”</a:t>
            </a:r>
            <a:endParaRPr/>
          </a:p>
        </p:txBody>
      </p:sp>
      <p:sp>
        <p:nvSpPr>
          <p:cNvPr id="178" name="Google Shape;178;p25"/>
          <p:cNvSpPr txBox="1"/>
          <p:nvPr/>
        </p:nvSpPr>
        <p:spPr>
          <a:xfrm>
            <a:off x="514450" y="1672100"/>
            <a:ext cx="1619100" cy="230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rPr>
              <a:t>INFRONT </a:t>
            </a: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r>
              <a:rPr b="1" lang="en" sz="1800">
                <a:solidFill>
                  <a:schemeClr val="dk2"/>
                </a:solidFill>
              </a:rPr>
              <a:t>REAR</a:t>
            </a:r>
            <a:endParaRPr b="1" sz="1800">
              <a:solidFill>
                <a:schemeClr val="dk2"/>
              </a:solidFill>
            </a:endParaRPr>
          </a:p>
        </p:txBody>
      </p:sp>
      <p:cxnSp>
        <p:nvCxnSpPr>
          <p:cNvPr id="179" name="Google Shape;179;p25"/>
          <p:cNvCxnSpPr/>
          <p:nvPr/>
        </p:nvCxnSpPr>
        <p:spPr>
          <a:xfrm flipH="1" rot="10800000">
            <a:off x="2730075" y="2759675"/>
            <a:ext cx="3749400" cy="32700"/>
          </a:xfrm>
          <a:prstGeom prst="straightConnector1">
            <a:avLst/>
          </a:prstGeom>
          <a:noFill/>
          <a:ln cap="flat" cmpd="sng" w="19050">
            <a:solidFill>
              <a:srgbClr val="FF0000"/>
            </a:solidFill>
            <a:prstDash val="solid"/>
            <a:round/>
            <a:headEnd len="med" w="med" type="none"/>
            <a:tailEnd len="med" w="med" type="none"/>
          </a:ln>
        </p:spPr>
      </p:cxnSp>
      <p:sp>
        <p:nvSpPr>
          <p:cNvPr id="180" name="Google Shape;180;p25"/>
          <p:cNvSpPr txBox="1"/>
          <p:nvPr/>
        </p:nvSpPr>
        <p:spPr>
          <a:xfrm>
            <a:off x="7076000" y="3002425"/>
            <a:ext cx="19797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EVENT LINE </a:t>
            </a:r>
            <a:endParaRPr b="1" sz="1800">
              <a:solidFill>
                <a:schemeClr val="dk2"/>
              </a:solidFill>
            </a:endParaRPr>
          </a:p>
        </p:txBody>
      </p:sp>
      <p:cxnSp>
        <p:nvCxnSpPr>
          <p:cNvPr id="181" name="Google Shape;181;p25"/>
          <p:cNvCxnSpPr>
            <a:stCxn id="180" idx="1"/>
          </p:cNvCxnSpPr>
          <p:nvPr/>
        </p:nvCxnSpPr>
        <p:spPr>
          <a:xfrm rot="10800000">
            <a:off x="6528500" y="2785675"/>
            <a:ext cx="547500" cy="4548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p:nvPr/>
        </p:nvSpPr>
        <p:spPr>
          <a:xfrm>
            <a:off x="4057500" y="0"/>
            <a:ext cx="1029000" cy="51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26"/>
          <p:cNvSpPr/>
          <p:nvPr/>
        </p:nvSpPr>
        <p:spPr>
          <a:xfrm rot="2819907">
            <a:off x="4835454" y="954754"/>
            <a:ext cx="498814" cy="937140"/>
          </a:xfrm>
          <a:prstGeom prst="roundRect">
            <a:avLst>
              <a:gd fmla="val 16667" name="adj"/>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26"/>
          <p:cNvSpPr/>
          <p:nvPr/>
        </p:nvSpPr>
        <p:spPr>
          <a:xfrm rot="-2254873">
            <a:off x="3840113" y="221469"/>
            <a:ext cx="497798" cy="937211"/>
          </a:xfrm>
          <a:prstGeom prst="roundRect">
            <a:avLst>
              <a:gd fmla="val 16667" name="adj"/>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990"/>
              <a:buFont typeface="Arial"/>
              <a:buNone/>
            </a:pPr>
            <a:r>
              <a:rPr lang="en" sz="2220"/>
              <a:t>Blow-through Herringbone</a:t>
            </a:r>
            <a:endParaRPr sz="2220"/>
          </a:p>
        </p:txBody>
      </p:sp>
      <p:cxnSp>
        <p:nvCxnSpPr>
          <p:cNvPr id="190" name="Google Shape;190;p26"/>
          <p:cNvCxnSpPr/>
          <p:nvPr/>
        </p:nvCxnSpPr>
        <p:spPr>
          <a:xfrm flipH="1" rot="10800000">
            <a:off x="2730075" y="2759675"/>
            <a:ext cx="3749400" cy="32700"/>
          </a:xfrm>
          <a:prstGeom prst="straightConnector1">
            <a:avLst/>
          </a:prstGeom>
          <a:noFill/>
          <a:ln cap="flat" cmpd="sng" w="19050">
            <a:solidFill>
              <a:srgbClr val="FF0000"/>
            </a:solidFill>
            <a:prstDash val="solid"/>
            <a:round/>
            <a:headEnd len="med" w="med" type="none"/>
            <a:tailEnd len="med" w="med" type="none"/>
          </a:ln>
        </p:spPr>
      </p:cxnSp>
      <p:sp>
        <p:nvSpPr>
          <p:cNvPr id="191" name="Google Shape;191;p26"/>
          <p:cNvSpPr txBox="1"/>
          <p:nvPr/>
        </p:nvSpPr>
        <p:spPr>
          <a:xfrm>
            <a:off x="570275" y="1672100"/>
            <a:ext cx="1563300" cy="212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rPr>
              <a:t>INFRONT </a:t>
            </a: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r>
              <a:rPr b="1" lang="en" sz="1800">
                <a:solidFill>
                  <a:schemeClr val="dk2"/>
                </a:solidFill>
              </a:rPr>
              <a:t>REAR</a:t>
            </a:r>
            <a:endParaRPr b="1" sz="1800">
              <a:solidFill>
                <a:schemeClr val="dk2"/>
              </a:solidFill>
            </a:endParaRPr>
          </a:p>
        </p:txBody>
      </p:sp>
      <p:sp>
        <p:nvSpPr>
          <p:cNvPr id="192" name="Google Shape;192;p26"/>
          <p:cNvSpPr txBox="1"/>
          <p:nvPr/>
        </p:nvSpPr>
        <p:spPr>
          <a:xfrm>
            <a:off x="7076000" y="3002425"/>
            <a:ext cx="19797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EVENT LINE </a:t>
            </a:r>
            <a:endParaRPr b="1" sz="1800">
              <a:solidFill>
                <a:schemeClr val="dk2"/>
              </a:solidFill>
            </a:endParaRPr>
          </a:p>
        </p:txBody>
      </p:sp>
      <p:cxnSp>
        <p:nvCxnSpPr>
          <p:cNvPr id="193" name="Google Shape;193;p26"/>
          <p:cNvCxnSpPr>
            <a:stCxn id="192" idx="1"/>
          </p:cNvCxnSpPr>
          <p:nvPr/>
        </p:nvCxnSpPr>
        <p:spPr>
          <a:xfrm rot="10800000">
            <a:off x="6528500" y="2785675"/>
            <a:ext cx="547500" cy="4548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7"/>
          <p:cNvSpPr/>
          <p:nvPr/>
        </p:nvSpPr>
        <p:spPr>
          <a:xfrm>
            <a:off x="4057500" y="0"/>
            <a:ext cx="1029000" cy="51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7"/>
          <p:cNvSpPr/>
          <p:nvPr/>
        </p:nvSpPr>
        <p:spPr>
          <a:xfrm rot="2819907">
            <a:off x="6254804" y="621329"/>
            <a:ext cx="498814" cy="937140"/>
          </a:xfrm>
          <a:prstGeom prst="roundRect">
            <a:avLst>
              <a:gd fmla="val 16667" name="adj"/>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7"/>
          <p:cNvSpPr/>
          <p:nvPr/>
        </p:nvSpPr>
        <p:spPr>
          <a:xfrm rot="-2254873">
            <a:off x="2538813" y="621294"/>
            <a:ext cx="497798" cy="937211"/>
          </a:xfrm>
          <a:prstGeom prst="roundRect">
            <a:avLst>
              <a:gd fmla="val 16667" name="adj"/>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Blow-through</a:t>
            </a:r>
            <a:r>
              <a:rPr lang="en" sz="2220"/>
              <a:t> “Y”</a:t>
            </a:r>
            <a:endParaRPr sz="2220"/>
          </a:p>
        </p:txBody>
      </p:sp>
      <p:cxnSp>
        <p:nvCxnSpPr>
          <p:cNvPr id="202" name="Google Shape;202;p27"/>
          <p:cNvCxnSpPr/>
          <p:nvPr/>
        </p:nvCxnSpPr>
        <p:spPr>
          <a:xfrm flipH="1" rot="10800000">
            <a:off x="2730075" y="2759675"/>
            <a:ext cx="3749400" cy="32700"/>
          </a:xfrm>
          <a:prstGeom prst="straightConnector1">
            <a:avLst/>
          </a:prstGeom>
          <a:noFill/>
          <a:ln cap="flat" cmpd="sng" w="19050">
            <a:solidFill>
              <a:srgbClr val="FF0000"/>
            </a:solidFill>
            <a:prstDash val="solid"/>
            <a:round/>
            <a:headEnd len="med" w="med" type="none"/>
            <a:tailEnd len="med" w="med" type="none"/>
          </a:ln>
        </p:spPr>
      </p:cxnSp>
      <p:sp>
        <p:nvSpPr>
          <p:cNvPr id="203" name="Google Shape;203;p27"/>
          <p:cNvSpPr txBox="1"/>
          <p:nvPr/>
        </p:nvSpPr>
        <p:spPr>
          <a:xfrm>
            <a:off x="570275" y="1672100"/>
            <a:ext cx="1563300" cy="212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rPr>
              <a:t>INFRONT </a:t>
            </a: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br>
              <a:rPr b="1" lang="en" sz="1800">
                <a:solidFill>
                  <a:schemeClr val="dk2"/>
                </a:solidFill>
              </a:rPr>
            </a:br>
            <a:r>
              <a:rPr b="1" lang="en" sz="1800">
                <a:solidFill>
                  <a:schemeClr val="dk2"/>
                </a:solidFill>
              </a:rPr>
              <a:t>REAR</a:t>
            </a:r>
            <a:endParaRPr b="1" sz="1800">
              <a:solidFill>
                <a:schemeClr val="dk2"/>
              </a:solidFill>
            </a:endParaRPr>
          </a:p>
        </p:txBody>
      </p:sp>
      <p:sp>
        <p:nvSpPr>
          <p:cNvPr id="204" name="Google Shape;204;p27"/>
          <p:cNvSpPr txBox="1"/>
          <p:nvPr/>
        </p:nvSpPr>
        <p:spPr>
          <a:xfrm>
            <a:off x="7076000" y="3002425"/>
            <a:ext cx="19797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EVENT LINE </a:t>
            </a:r>
            <a:endParaRPr b="1" sz="1800">
              <a:solidFill>
                <a:schemeClr val="dk2"/>
              </a:solidFill>
            </a:endParaRPr>
          </a:p>
        </p:txBody>
      </p:sp>
      <p:cxnSp>
        <p:nvCxnSpPr>
          <p:cNvPr id="205" name="Google Shape;205;p27"/>
          <p:cNvCxnSpPr>
            <a:stCxn id="204" idx="1"/>
          </p:cNvCxnSpPr>
          <p:nvPr/>
        </p:nvCxnSpPr>
        <p:spPr>
          <a:xfrm rot="10800000">
            <a:off x="6528500" y="2785675"/>
            <a:ext cx="547500" cy="4548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